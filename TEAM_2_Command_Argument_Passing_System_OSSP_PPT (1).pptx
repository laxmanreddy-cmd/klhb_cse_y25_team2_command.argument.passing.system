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01B24"/>
                </a:solidFill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3254"/>
                </a:solidFill>
                <a:latin typeface="Arial"/>
              </a:defRPr>
            </a:pPr>
            <a:r>
              <a:t>COMMAND ARGUMENT</a:t>
            </a:r>
            <a:br/>
            <a:r>
              <a:t>PASSING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01B24"/>
                </a:solidFill>
              </a:defRPr>
            </a:pPr>
            <a:r>
              <a:t>OPERATING SYSTEMS AND SYSTEMS PROGRAMMING (25CS2104E)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310896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500" b="1">
                <a:solidFill>
                  <a:srgbClr val="1B3254"/>
                </a:solidFill>
                <a:latin typeface="Arial"/>
              </a:defRPr>
            </a:pPr>
            <a:r>
              <a:t>SECTION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Section No.: 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69080"/>
            <a:ext cx="64008" cy="105156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4069080"/>
            <a:ext cx="310896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500" b="1">
                <a:solidFill>
                  <a:srgbClr val="1B3254"/>
                </a:solidFill>
                <a:latin typeface="Arial"/>
              </a:defRPr>
            </a:pPr>
            <a:r>
              <a:t>TEAM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Team No.: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4069080"/>
            <a:ext cx="64008" cy="105156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4069080"/>
            <a:ext cx="310896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500" b="1">
                <a:solidFill>
                  <a:srgbClr val="1B3254"/>
                </a:solidFill>
                <a:latin typeface="Arial"/>
              </a:defRPr>
            </a:pPr>
            <a:r>
              <a:t>TERM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2026–27 • Term-I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069080"/>
            <a:ext cx="64008" cy="105156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585F"/>
                </a:solidFill>
              </a:defRPr>
            </a:pPr>
            <a:r>
              <a:t>Koneru Lakshmaiah Education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2520030136</a:t>
            </a:r>
          </a:p>
          <a:p>
            <a:pPr>
              <a:spcBef>
                <a:spcPts val="800"/>
              </a:spcBef>
              <a:defRPr sz="1500">
                <a:solidFill>
                  <a:srgbClr val="23262B"/>
                </a:solidFill>
                <a:latin typeface="Arial"/>
              </a:defRPr>
            </a:pPr>
            <a:r>
              <a:t>P. Pranaw Reddy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64008" cy="123444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2520030097</a:t>
            </a:r>
          </a:p>
          <a:p>
            <a:pPr>
              <a:spcBef>
                <a:spcPts val="800"/>
              </a:spcBef>
              <a:defRPr sz="1500">
                <a:solidFill>
                  <a:srgbClr val="23262B"/>
                </a:solidFill>
                <a:latin typeface="Arial"/>
              </a:defRPr>
            </a:pPr>
            <a:r>
              <a:t>P. Laxman Reddy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64008" cy="123444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2520030087</a:t>
            </a:r>
          </a:p>
          <a:p>
            <a:pPr>
              <a:spcBef>
                <a:spcPts val="800"/>
              </a:spcBef>
              <a:defRPr sz="1500">
                <a:solidFill>
                  <a:srgbClr val="23262B"/>
                </a:solidFill>
                <a:latin typeface="Arial"/>
              </a:defRPr>
            </a:pPr>
            <a:r>
              <a:t>P. Anudeep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64008" cy="123444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9718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2520030207</a:t>
            </a:r>
          </a:p>
          <a:p>
            <a:pPr>
              <a:spcBef>
                <a:spcPts val="800"/>
              </a:spcBef>
              <a:defRPr sz="1500">
                <a:solidFill>
                  <a:srgbClr val="23262B"/>
                </a:solidFill>
                <a:latin typeface="Arial"/>
              </a:defRPr>
            </a:pPr>
            <a:r>
              <a:t>V. Pranav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971800"/>
            <a:ext cx="64008" cy="123444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85F"/>
                </a:solidFill>
              </a:defRPr>
            </a:pPr>
            <a:r>
              <a:t>Project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0235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B3254"/>
                </a:solidFill>
              </a:defRPr>
            </a:pPr>
            <a:r>
              <a:t>Command Argument Passing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52760" cy="44348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PROJECT OVERVIEW</a:t>
            </a:r>
          </a:p>
          <a:p>
            <a:pPr>
              <a:spcBef>
                <a:spcPts val="800"/>
              </a:spcBef>
              <a:defRPr sz="1700">
                <a:solidFill>
                  <a:srgbClr val="23262B"/>
                </a:solidFill>
                <a:latin typeface="Arial"/>
              </a:defRPr>
            </a:pPr>
            <a:r>
              <a:t>A Linux-based mini-shell that demonstrates how a parent process accepts a command and user-provided arguments, creates a child using fork(), and executes the requested program with execvp(). The executed program receives the argument vector through argc/argv and displays the received values. The parent uses waitpid() to synchronize with the child and reports the termination status. The system also handles empty input, exit/quit commands, different argument lists, and invalid commands.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64008" cy="443484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698480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WHY THIS PROJECT?</a:t>
            </a:r>
          </a:p>
          <a:p>
            <a:pPr>
              <a:spcBef>
                <a:spcPts val="800"/>
              </a:spcBef>
              <a:defRPr sz="1600">
                <a:solidFill>
                  <a:srgbClr val="23262B"/>
                </a:solidFill>
                <a:latin typeface="Arial"/>
              </a:defRPr>
            </a:pPr>
            <a:r>
              <a:t>Command-line programs receive input through argc and argv, while the operating system provides process creation and program-execution system calls. This project makes that execution journey visible to beginners.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64008" cy="150876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246120"/>
            <a:ext cx="25146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READ COMMAND</a:t>
            </a:r>
          </a:p>
          <a:p>
            <a:pPr>
              <a:spcBef>
                <a:spcPts val="800"/>
              </a:spcBef>
              <a:defRPr sz="1300">
                <a:solidFill>
                  <a:srgbClr val="23262B"/>
                </a:solidFill>
                <a:latin typeface="Arial"/>
              </a:defRPr>
            </a:pPr>
            <a:r>
              <a:t>User enters command + arguments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64008" cy="141732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3246120"/>
            <a:ext cx="25146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PARSE ARGUMENTS</a:t>
            </a:r>
          </a:p>
          <a:p>
            <a:pPr>
              <a:spcBef>
                <a:spcPts val="800"/>
              </a:spcBef>
              <a:defRPr sz="1300">
                <a:solidFill>
                  <a:srgbClr val="23262B"/>
                </a:solidFill>
                <a:latin typeface="Arial"/>
              </a:defRPr>
            </a:pPr>
            <a:r>
              <a:t>fgets() + strtok()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246120"/>
            <a:ext cx="64008" cy="141732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3246120"/>
            <a:ext cx="25146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CREATE CHILD</a:t>
            </a:r>
          </a:p>
          <a:p>
            <a:pPr>
              <a:spcBef>
                <a:spcPts val="800"/>
              </a:spcBef>
              <a:defRPr sz="1300">
                <a:solidFill>
                  <a:srgbClr val="23262B"/>
                </a:solidFill>
                <a:latin typeface="Arial"/>
              </a:defRPr>
            </a:pPr>
            <a:r>
              <a:t>fork()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46120"/>
            <a:ext cx="64008" cy="141732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3246120"/>
            <a:ext cx="251460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EXECUTE PROGRAM</a:t>
            </a:r>
          </a:p>
          <a:p>
            <a:pPr>
              <a:spcBef>
                <a:spcPts val="800"/>
              </a:spcBef>
              <a:defRPr sz="1300">
                <a:solidFill>
                  <a:srgbClr val="23262B"/>
                </a:solidFill>
                <a:latin typeface="Arial"/>
              </a:defRPr>
            </a:pPr>
            <a:r>
              <a:t>execvp(command, argv)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246120"/>
            <a:ext cx="64008" cy="141732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5074920"/>
            <a:ext cx="6675120" cy="86868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SYNCHRONIZE</a:t>
            </a:r>
          </a:p>
          <a:p>
            <a:pPr>
              <a:spcBef>
                <a:spcPts val="800"/>
              </a:spcBef>
              <a:defRPr sz="1300">
                <a:solidFill>
                  <a:srgbClr val="23262B"/>
                </a:solidFill>
                <a:latin typeface="Arial"/>
              </a:defRPr>
            </a:pPr>
            <a:r>
              <a:t>Parent waits using waitpid() and reports the child's exit status.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074920"/>
            <a:ext cx="64008" cy="86868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EXISTING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Operating systems and standard shells already provide command execution and argument passing.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A normal user may not see the separate fork → exec → wait stages clearly.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Arguments are normally consumed by the target program through argc/argv without exposing the transfer mechanism.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An educational mini-shell can make these process and argument-passing steps directly observable.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10607040" cy="9601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GAP IDENTIFIED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Need for a small, readable demonstration connecting command-line arguments with POSIX process creation, execution and synchronization.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64008" cy="96012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698480" cy="128016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600" b="1">
                <a:solidFill>
                  <a:srgbClr val="1B3254"/>
                </a:solidFill>
                <a:latin typeface="Arial"/>
              </a:defRPr>
            </a:pPr>
            <a:r>
              <a:t>CORE PROBLEM</a:t>
            </a:r>
          </a:p>
          <a:p>
            <a:pPr>
              <a:spcBef>
                <a:spcPts val="800"/>
              </a:spcBef>
              <a:defRPr sz="1600">
                <a:solidFill>
                  <a:srgbClr val="23262B"/>
                </a:solidFill>
                <a:latin typeface="Arial"/>
              </a:defRPr>
            </a:pPr>
            <a:r>
              <a:t>The system must demonstrate how a parent application transfers a command and multiple user-provided arguments to a newly executed child program.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64008" cy="128016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Create a child process using fork().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Pass the complete argument vector to the child.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Execute the requested program using an appropriate exec() function.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Synchronize parent and child using waitpid().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Handle invalid commands without crashing the mini-shell.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10698480" cy="114300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500" b="1">
                <a:solidFill>
                  <a:srgbClr val="1B3254"/>
                </a:solidFill>
                <a:latin typeface="Arial"/>
              </a:defRPr>
            </a:pPr>
            <a:r>
              <a:t>SOLUTION</a:t>
            </a:r>
          </a:p>
          <a:p>
            <a:pPr>
              <a:spcBef>
                <a:spcPts val="800"/>
              </a:spcBef>
              <a:defRPr sz="1500">
                <a:solidFill>
                  <a:srgbClr val="23262B"/>
                </a:solidFill>
                <a:latin typeface="Arial"/>
              </a:defRPr>
            </a:pPr>
            <a:r>
              <a:t>Develop a Linux/POSIX C mini-shell that parses a command line, forks a child, executes the command with execvp(), and waits for completion.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51560"/>
            <a:ext cx="64008" cy="114300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201168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PARSE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fgets + strtok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43200"/>
            <a:ext cx="64008" cy="141732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98648" y="2743200"/>
            <a:ext cx="201168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FORK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fork()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8648" y="2743200"/>
            <a:ext cx="64008" cy="141732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02936" y="2743200"/>
            <a:ext cx="201168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EXECUTE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execvp()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02936" y="2743200"/>
            <a:ext cx="64008" cy="141732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07224" y="2743200"/>
            <a:ext cx="201168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DISPLAY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argc / argv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7224" y="2743200"/>
            <a:ext cx="64008" cy="141732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11512" y="2743200"/>
            <a:ext cx="201168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WAIT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waitpid()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1512" y="2743200"/>
            <a:ext cx="64008" cy="141732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28800" y="4709160"/>
            <a:ext cx="8503920" cy="86868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EXPECTED DEMO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./arg_printer hello world 42  →  argc/argv values displayed by the new program.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709160"/>
            <a:ext cx="64008" cy="86868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Accept a command and multiple arguments from the user.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Create a child process using fork().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Pass the parsed argument vector to the child process.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Execute different programs using execvp().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Display the arguments received by the new program.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Handle invalid commands and support exit/quit.</a:t>
            </a:r>
          </a:p>
          <a:p>
            <a:pPr>
              <a:spcAft>
                <a:spcPts val="900"/>
              </a:spcAft>
              <a:defRPr sz="1700">
                <a:solidFill>
                  <a:srgbClr val="23262B"/>
                </a:solidFill>
                <a:latin typeface="Arial"/>
              </a:defRPr>
            </a:pPr>
            <a:r>
              <a:t>• Synchronize the parent and child using waitpid().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COMMAND PARSING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fgets() and strtok() split input into command + arguments.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64008" cy="123444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PROCESS CREATION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fork() creates the child process that will execute the command.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64008" cy="123444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PROGRAM EXECUTION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execvp() replaces the child process image and passes argv[].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64008" cy="123444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7432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ARGUMENT DISPLAY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arg_printer prints argc and every argv entry.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743200"/>
            <a:ext cx="64008" cy="123444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SYNCHRONIZATION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waitpid() lets the parent wait and inspect exit status.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64008" cy="123444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074920" cy="123444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ERROR HANDLING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perror() reports failed exec calls and the child exits safely.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64008" cy="123444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SOFTWARE /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21488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200" b="1">
                <a:solidFill>
                  <a:srgbClr val="1B3254"/>
                </a:solidFill>
                <a:latin typeface="Arial"/>
              </a:defRPr>
            </a:pPr>
            <a:r>
              <a:t>OS / ENVIRONMENT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64008" cy="71323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097280"/>
            <a:ext cx="288036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300" b="1">
                <a:solidFill>
                  <a:srgbClr val="1B3254"/>
                </a:solidFill>
                <a:latin typeface="Arial"/>
              </a:defRPr>
            </a:pPr>
            <a:r>
              <a:t>Linux / Ubuntu or WSL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2971800" y="1097280"/>
            <a:ext cx="64008" cy="71323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1097280"/>
            <a:ext cx="53492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100" b="1">
                <a:solidFill>
                  <a:srgbClr val="1B3254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POSIX process execution and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97280"/>
            <a:ext cx="64008" cy="71323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21488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200" b="1">
                <a:solidFill>
                  <a:srgbClr val="1B3254"/>
                </a:solidFill>
                <a:latin typeface="Arial"/>
              </a:defRPr>
            </a:pPr>
            <a:r>
              <a:t>LANGUAGE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85800" y="2057400"/>
            <a:ext cx="64008" cy="713232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71800" y="2057400"/>
            <a:ext cx="288036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300" b="1">
                <a:solidFill>
                  <a:srgbClr val="1B3254"/>
                </a:solidFill>
                <a:latin typeface="Arial"/>
              </a:defRPr>
            </a:pPr>
            <a:r>
              <a:t>C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971800" y="2057400"/>
            <a:ext cx="64008" cy="713232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80760" y="2057400"/>
            <a:ext cx="53492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100" b="1">
                <a:solidFill>
                  <a:srgbClr val="1B3254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System programming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057400"/>
            <a:ext cx="64008" cy="713232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017520"/>
            <a:ext cx="21488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200" b="1">
                <a:solidFill>
                  <a:srgbClr val="1B3254"/>
                </a:solidFill>
                <a:latin typeface="Arial"/>
              </a:defRPr>
            </a:pPr>
            <a:r>
              <a:t>COMPILER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85800" y="3017520"/>
            <a:ext cx="64008" cy="713232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1800" y="3017520"/>
            <a:ext cx="288036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300" b="1">
                <a:solidFill>
                  <a:srgbClr val="1B3254"/>
                </a:solidFill>
                <a:latin typeface="Arial"/>
              </a:defRPr>
            </a:pPr>
            <a:r>
              <a:t>GCC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2971800" y="3017520"/>
            <a:ext cx="64008" cy="713232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3017520"/>
            <a:ext cx="53492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100" b="1">
                <a:solidFill>
                  <a:srgbClr val="1B3254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Compile and build source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017520"/>
            <a:ext cx="64008" cy="713232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977640"/>
            <a:ext cx="21488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200" b="1">
                <a:solidFill>
                  <a:srgbClr val="1B3254"/>
                </a:solidFill>
                <a:latin typeface="Arial"/>
              </a:defRPr>
            </a:pPr>
            <a:r>
              <a:t>APIs / CALLS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85800" y="3977640"/>
            <a:ext cx="64008" cy="71323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1800" y="3977640"/>
            <a:ext cx="288036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300" b="1">
                <a:solidFill>
                  <a:srgbClr val="1B3254"/>
                </a:solidFill>
                <a:latin typeface="Arial"/>
              </a:defRPr>
            </a:pPr>
            <a:r>
              <a:t>fork(), execvp(), waitpid()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2971800" y="3977640"/>
            <a:ext cx="64008" cy="71323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0760" y="3977640"/>
            <a:ext cx="53492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100" b="1">
                <a:solidFill>
                  <a:srgbClr val="1B3254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Process creation, execution and synchronization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977640"/>
            <a:ext cx="64008" cy="71323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4937760"/>
            <a:ext cx="21488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200" b="1">
                <a:solidFill>
                  <a:srgbClr val="1B3254"/>
                </a:solidFill>
                <a:latin typeface="Arial"/>
              </a:defRPr>
            </a:pPr>
            <a:r>
              <a:t>BUILD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685800" y="4937760"/>
            <a:ext cx="64008" cy="713232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71800" y="4937760"/>
            <a:ext cx="288036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300" b="1">
                <a:solidFill>
                  <a:srgbClr val="1B3254"/>
                </a:solidFill>
                <a:latin typeface="Arial"/>
              </a:defRPr>
            </a:pPr>
            <a:r>
              <a:t>GNU Make</a:t>
            </a:r>
          </a:p>
          <a:p>
            <a:pPr>
              <a:spcBef>
                <a:spcPts val="800"/>
              </a:spcBef>
              <a:defRPr sz="1000">
                <a:solidFill>
                  <a:srgbClr val="23262B"/>
                </a:solidFill>
                <a:latin typeface="Arial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2971800" y="4937760"/>
            <a:ext cx="64008" cy="713232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80760" y="4937760"/>
            <a:ext cx="5349240" cy="713232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100" b="1">
                <a:solidFill>
                  <a:srgbClr val="1B3254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Build arg_executor and arg_printer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937760"/>
            <a:ext cx="64008" cy="713232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254"/>
                </a:solidFill>
                <a:latin typeface="Arial"/>
              </a:defRPr>
            </a:pPr>
            <a:r>
              <a:t>CONCLUSION &amp;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85F"/>
                </a:solidFill>
              </a:defRPr>
            </a:pPr>
            <a:r>
              <a:t>OPERATING SYSTEMS AND SYSTEMS PROGRAMMING (25CS2104E) • 2026–27 • Term-I • TEAM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85F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6400800" cy="182880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500" b="1">
                <a:solidFill>
                  <a:srgbClr val="1B3254"/>
                </a:solidFill>
                <a:latin typeface="Arial"/>
              </a:defRPr>
            </a:pPr>
            <a:r>
              <a:t>EXPECTED OUTCOME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A working Linux mini-shell that visibly demonstrates command-line argument passing, child creation, program execution and parent-child synchronization. The helper program confirms the received argc/argv values.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64008" cy="182880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051560"/>
            <a:ext cx="4160520" cy="182880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COURSE CONNECTION</a:t>
            </a:r>
          </a:p>
          <a:p>
            <a:pPr>
              <a:spcBef>
                <a:spcPts val="800"/>
              </a:spcBef>
              <a:defRPr sz="1300">
                <a:solidFill>
                  <a:srgbClr val="23262B"/>
                </a:solidFill>
                <a:latin typeface="Arial"/>
              </a:defRPr>
            </a:pPr>
            <a:r>
              <a:t>Process creation • execution • termination • synchronization • command execution • system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051560"/>
            <a:ext cx="64008" cy="1828800"/>
          </a:xfrm>
          <a:prstGeom prst="rect">
            <a:avLst/>
          </a:prstGeom>
          <a:solidFill>
            <a:srgbClr val="1B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337560"/>
            <a:ext cx="107899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INDIVIDUAL CONTRIBUTIONS</a:t>
            </a:r>
          </a:p>
          <a:p>
            <a:pPr>
              <a:spcBef>
                <a:spcPts val="800"/>
              </a:spcBef>
              <a:defRPr sz="1200">
                <a:solidFill>
                  <a:srgbClr val="23262B"/>
                </a:solidFill>
                <a:latin typeface="Arial"/>
              </a:defRPr>
            </a:pPr>
            <a:r>
              <a:t>Pranaw: project coordination &amp; integration</a:t>
            </a:r>
            <a:br/>
            <a:r>
              <a:t>Laxman: process creation, argument parsing &amp; execution</a:t>
            </a:r>
            <a:br/>
            <a:r>
              <a:t>Anudeep: argument display &amp; testing</a:t>
            </a:r>
            <a:br/>
            <a:r>
              <a:t>Pranav: synchronization, error handling &amp;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37560"/>
            <a:ext cx="64008" cy="1417320"/>
          </a:xfrm>
          <a:prstGeom prst="rect">
            <a:avLst/>
          </a:prstGeom>
          <a:solidFill>
            <a:srgbClr val="C4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5074920"/>
            <a:ext cx="10789920" cy="822960"/>
          </a:xfrm>
          <a:prstGeom prst="roundRect">
            <a:avLst/>
          </a:prstGeom>
          <a:solidFill>
            <a:srgbClr val="F6F7F9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400" b="1">
                <a:solidFill>
                  <a:srgbClr val="1B3254"/>
                </a:solidFill>
                <a:latin typeface="Arial"/>
              </a:defRPr>
            </a:pPr>
            <a:r>
              <a:t>PROJECT FILES</a:t>
            </a:r>
          </a:p>
          <a:p>
            <a:pPr>
              <a:spcBef>
                <a:spcPts val="800"/>
              </a:spcBef>
              <a:defRPr sz="1400">
                <a:solidFill>
                  <a:srgbClr val="23262B"/>
                </a:solidFill>
                <a:latin typeface="Arial"/>
              </a:defRPr>
            </a:pPr>
            <a:r>
              <a:t>arg_executor.c • arg_printer.c • Makefile • README.md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74920"/>
            <a:ext cx="64008" cy="822960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B3254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01B24"/>
                </a:solidFill>
              </a:defRPr>
            </a:pPr>
            <a:r>
              <a:t>Command Argument Passing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5585F"/>
                </a:solidFill>
              </a:defRPr>
            </a:pPr>
            <a:r>
              <a:t>OSSP • Section 8 • Team 2 •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3254"/>
                </a:solidFill>
              </a:defRPr>
            </a:pPr>
            <a:r>
              <a:t>P. Pranaw Reddy  •  P. Laxman Reddy  •  P. Anudeep  •  V. Pranav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